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147377467" r:id="rId3"/>
    <p:sldId id="2147377475" r:id="rId4"/>
    <p:sldId id="2147377420" r:id="rId5"/>
    <p:sldId id="2147377484" r:id="rId6"/>
    <p:sldId id="2147377446" r:id="rId7"/>
    <p:sldId id="2147377558" r:id="rId8"/>
    <p:sldId id="2147377487" r:id="rId9"/>
    <p:sldId id="2147377557" r:id="rId10"/>
    <p:sldId id="2147377559" r:id="rId11"/>
    <p:sldId id="2147377505" r:id="rId12"/>
    <p:sldId id="2147377560" r:id="rId13"/>
    <p:sldId id="2147377586" r:id="rId14"/>
    <p:sldId id="2147377587" r:id="rId15"/>
    <p:sldId id="2147377588" r:id="rId16"/>
    <p:sldId id="2147377589" r:id="rId17"/>
    <p:sldId id="2147377590" r:id="rId18"/>
    <p:sldId id="2147377591" r:id="rId19"/>
    <p:sldId id="2147377592" r:id="rId20"/>
    <p:sldId id="2147377504" r:id="rId21"/>
    <p:sldId id="2147377465" r:id="rId22"/>
    <p:sldId id="2147377466" r:id="rId23"/>
    <p:sldId id="275" r:id="rId24"/>
  </p:sldIdLst>
  <p:sldSz cx="19799300" cy="11160125"/>
  <p:notesSz cx="6858000" cy="9144000"/>
  <p:embeddedFontLst>
    <p:embeddedFont>
      <p:font typeface="T-Sans" pitchFamily="2" charset="0"/>
      <p:regular r:id="rId27"/>
      <p:bold r:id="rId28"/>
    </p:embeddedFont>
    <p:embeddedFont>
      <p:font typeface="T-Sans Medium" pitchFamily="2" charset="0"/>
      <p:regular r:id="rId29"/>
    </p:embeddedFont>
    <p:embeddedFont>
      <p:font typeface="Tinkoff Sans" panose="02000506050000020004" pitchFamily="2" charset="0"/>
      <p:regular r:id="rId30"/>
      <p:bold r:id="rId31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59"/>
    <a:srgbClr val="EBEBEC"/>
    <a:srgbClr val="FFE45A"/>
    <a:srgbClr val="FFE45C"/>
    <a:srgbClr val="B5B1EF"/>
    <a:srgbClr val="EFF1F2"/>
    <a:srgbClr val="FFEE96"/>
    <a:srgbClr val="F1EFFB"/>
    <a:srgbClr val="FFE1D5"/>
    <a:srgbClr val="E6F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16"/>
    <p:restoredTop sz="93384"/>
  </p:normalViewPr>
  <p:slideViewPr>
    <p:cSldViewPr snapToGrid="0" snapToObjects="1" showGuides="1">
      <p:cViewPr varScale="1">
        <p:scale>
          <a:sx n="93" d="100"/>
          <a:sy n="93" d="100"/>
        </p:scale>
        <p:origin x="720" y="216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21.09.2026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4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E654A9-B1D1-CD31-7491-449722C6F86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ECADC6E-2223-DA1B-2C88-95151E1F101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3563591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  <p:sldLayoutId id="2147483864" r:id="rId54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320139"/>
            <a:ext cx="1097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 3. </a:t>
            </a:r>
            <a:endParaRPr lang="ru-RU" sz="80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Функциональная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парадигма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5313" y="65582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>
                <a:latin typeface="T-Sans" pitchFamily="2" charset="0"/>
                <a:ea typeface="T-Sans" pitchFamily="2" charset="0"/>
              </a:rPr>
              <a:t>λ</a:t>
            </a:r>
            <a:r>
              <a:rPr lang="ru-RU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-&gt;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функции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,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G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enerics, Optional, </a:t>
            </a:r>
            <a:r>
              <a:rPr sz="2400" dirty="0" err="1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Vavr</a:t>
            </a:r>
            <a:endParaRPr sz="2400" dirty="0">
              <a:solidFill>
                <a:srgbClr val="0A0A0A"/>
              </a:solidFill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Алексей Ковалев| Ведущий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План</a:t>
            </a:r>
            <a:r>
              <a:rPr sz="6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семинара</a:t>
            </a:r>
            <a:endParaRPr sz="60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6838" y="2011680"/>
            <a:ext cx="73199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Что такое функциональный подход и как он применим в 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java</a:t>
            </a:r>
            <a:endParaRPr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476A-EE4E-35DB-F541-BE51DC45941A}"/>
              </a:ext>
            </a:extLst>
          </p:cNvPr>
          <p:cNvSpPr txBox="1"/>
          <p:nvPr/>
        </p:nvSpPr>
        <p:spPr>
          <a:xfrm>
            <a:off x="1366838" y="8758263"/>
            <a:ext cx="7871303" cy="1210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Байткод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: лямбда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vs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анонимный класс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Try-catch VS </a:t>
            </a:r>
            <a:r>
              <a:rPr lang="en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Vavr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CFB48-4CBB-0492-6F64-CC07353610D3}"/>
              </a:ext>
            </a:extLst>
          </p:cNvPr>
          <p:cNvSpPr txBox="1"/>
          <p:nvPr/>
        </p:nvSpPr>
        <p:spPr>
          <a:xfrm>
            <a:off x="1366838" y="7728921"/>
            <a:ext cx="186845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Advanced</a:t>
            </a:r>
            <a:endParaRPr kumimoji="0" lang="ru-RU" sz="3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438D-9CA3-4B83-BF9E-BC4A9D451478}"/>
              </a:ext>
            </a:extLst>
          </p:cNvPr>
          <p:cNvSpPr txBox="1"/>
          <p:nvPr/>
        </p:nvSpPr>
        <p:spPr>
          <a:xfrm>
            <a:off x="1366838" y="3315594"/>
            <a:ext cx="7660767" cy="651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Зачем нужны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Generics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и что такое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type erasure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366838" y="5576196"/>
            <a:ext cx="7438766" cy="17697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Registry&lt;K,V&gt;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factory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Минималистично  перепишем наш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strategy</a:t>
            </a: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Optional: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прощаемся с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null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репозитории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4991-548B-4457-9AFC-9803DFBB0237}"/>
              </a:ext>
            </a:extLst>
          </p:cNvPr>
          <p:cNvSpPr txBox="1"/>
          <p:nvPr/>
        </p:nvSpPr>
        <p:spPr>
          <a:xfrm>
            <a:off x="1366838" y="4560532"/>
            <a:ext cx="786450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ru-RU" sz="3600" dirty="0">
                <a:solidFill>
                  <a:srgbClr val="0A0A0A"/>
                </a:solidFill>
                <a:latin typeface="T-Sans"/>
                <a:ea typeface="T-Sans" pitchFamily="2" charset="0"/>
              </a:rPr>
              <a:t>Улучшим наш проект!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Функциональное программирование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Функциональные интерфейсы и лямбда функции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75AF28-2D74-14FD-7DA9-5EEF4BD0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909" y="5727061"/>
            <a:ext cx="1764917" cy="1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703101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Можем сохранять функции в переменные и передавать в другие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Функции = объекты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89293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724509" y="6998840"/>
            <a:ext cx="4716462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Lisp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Scala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(ФП + ООП)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Haskell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JS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отчасти)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Языки ФП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324797" y="699884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отличии от императивного подхода разработчик описывает скорее что надо сделать а не как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Декларативный подход</a:t>
            </a:r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9" y="1731896"/>
            <a:ext cx="4716462" cy="9325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Данные неизменяемы, если надо их изменить – создаем новые копии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Immutability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731896"/>
            <a:ext cx="4716462" cy="24519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возвращаемые значения идентичны при идентичных аргументах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отсутствие побочных эффектов при выполнении (не меняет внешние переменные)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Pure functions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117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Чистый функциональный подход</a:t>
            </a:r>
            <a:endParaRPr lang="ru-RU" sz="4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577931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77"/>
                <a:ea typeface="T-Sans" pitchFamily="2" charset="77"/>
              </a:rPr>
              <a:t>Javascript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9302028"/>
            <a:chOff x="7477170" y="647700"/>
            <a:chExt cx="11448000" cy="9864725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382107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– можем хранить их в переменных или даже передавать друг другу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7DA483-3B6F-3C7A-62B0-1AA257DF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69" y="1512144"/>
            <a:ext cx="8475423" cy="886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5010676"/>
            <a:ext cx="8644611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А как же </a:t>
            </a:r>
            <a:r>
              <a:rPr lang="en-US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Java?</a:t>
            </a:r>
            <a:endParaRPr lang="ru-RU" sz="8000" b="0" dirty="0">
              <a:solidFill>
                <a:schemeClr val="tx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3577931"/>
            <a:ext cx="540514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  <a:r>
              <a:rPr lang="en-US" dirty="0">
                <a:latin typeface="T-Sans" pitchFamily="2" charset="77"/>
                <a:ea typeface="T-Sans" pitchFamily="2" charset="77"/>
              </a:rPr>
              <a:t> = </a:t>
            </a:r>
            <a:r>
              <a:rPr lang="ru-RU" dirty="0">
                <a:latin typeface="T-Sans" pitchFamily="2" charset="77"/>
                <a:ea typeface="T-Sans" pitchFamily="2" charset="77"/>
              </a:rPr>
              <a:t>если напишите сами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77"/>
                <a:ea typeface="T-Sans" pitchFamily="2" charset="77"/>
              </a:rPr>
              <a:t>Java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7460274"/>
            <a:chOff x="7477170" y="647700"/>
            <a:chExt cx="11448000" cy="7911560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1" y="4382107"/>
            <a:ext cx="5137135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 = если напишите сами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= на самом деле просто экземпляры интерфейсов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AD27FC-7209-12C6-D964-B6F660A9B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64" y="1489115"/>
            <a:ext cx="11442762" cy="69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004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1516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Как было раньше</a:t>
            </a:r>
          </a:p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И как сейчас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BBC81-665B-182C-8A88-4B0F8FFA52A2}"/>
              </a:ext>
            </a:extLst>
          </p:cNvPr>
          <p:cNvSpPr txBox="1"/>
          <p:nvPr/>
        </p:nvSpPr>
        <p:spPr>
          <a:xfrm>
            <a:off x="611188" y="3743325"/>
            <a:ext cx="4716462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До введения синтаксического сахара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1.8 </a:t>
            </a:r>
            <a:r>
              <a:rPr lang="ru-RU" dirty="0">
                <a:latin typeface="T-Sans" pitchFamily="2" charset="0"/>
                <a:ea typeface="T-Sans" pitchFamily="2" charset="0"/>
              </a:rPr>
              <a:t>можно было использовать только ванильные средства ООП.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Приходилось или писать полную имплементацию интерфейсов или же использовать анонимные классы (что было не сильно лучше)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Посмотрим на примере нашего паттерна </a:t>
            </a:r>
            <a:r>
              <a:rPr lang="en-US" dirty="0">
                <a:latin typeface="T-Sans" pitchFamily="2" charset="0"/>
                <a:ea typeface="T-Sans" pitchFamily="2" charset="0"/>
              </a:rPr>
              <a:t>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16560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Приходится писать целую кучу лишнего!</a:t>
            </a:r>
          </a:p>
          <a:p>
            <a:pPr>
              <a:lnSpc>
                <a:spcPct val="100000"/>
              </a:lnSpc>
            </a:pPr>
            <a:endParaRPr lang="ru-RU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Мы ведь просто хотим проверить что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инструмента равна переданной, зачем нам все эти лишние слова, методы,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@Override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 прочее?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345203A-FEDA-E10B-7BB8-6EE5751038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8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54BE0-375F-C558-497F-B2B95696D3B3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latin typeface="T-Sans Medium" pitchFamily="2" charset="0"/>
                <a:ea typeface="T-Sans" pitchFamily="2" charset="0"/>
              </a:rPr>
              <a:t>Java &lt; 1.8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BAA70-043A-64F3-C6D7-8E99ECA6F4EB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Java &gt; 1.8</a:t>
            </a:r>
            <a:endParaRPr lang="ru-RU" sz="36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83F970-B515-95A2-8732-8FA4A9E46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08" y="2662406"/>
            <a:ext cx="5443488" cy="34021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5877F2-7D02-8A95-FA6C-96222F6B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588" y="2662405"/>
            <a:ext cx="5443488" cy="25902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06B83F-57AB-B50B-E88F-F3FEACC533E5}"/>
              </a:ext>
            </a:extLst>
          </p:cNvPr>
          <p:cNvSpPr txBox="1"/>
          <p:nvPr/>
        </p:nvSpPr>
        <p:spPr>
          <a:xfrm>
            <a:off x="1346358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Зачем нам писать лишние буквы, если нас волнует только «возьми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инструмента и проверь, что она совпадает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переданной. Верни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true/false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»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8B3354-C39C-994D-D93C-D8146CEF0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8439250"/>
            <a:ext cx="2088983" cy="200641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C3C07F-99FF-056A-BA37-9275D3E74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8820" y="8439249"/>
            <a:ext cx="2088983" cy="20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059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B0E2CD71-4130-BA89-8E8B-95B11390B2CF}"/>
              </a:ext>
            </a:extLst>
          </p:cNvPr>
          <p:cNvSpPr/>
          <p:nvPr/>
        </p:nvSpPr>
        <p:spPr>
          <a:xfrm flipH="1">
            <a:off x="9971088" y="395288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80713D8-4ECA-1480-75B3-5BC605500275}"/>
              </a:ext>
            </a:extLst>
          </p:cNvPr>
          <p:cNvSpPr/>
          <p:nvPr/>
        </p:nvSpPr>
        <p:spPr>
          <a:xfrm>
            <a:off x="396212" y="396752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DBBC05-A6EA-8ADC-B115-2E6D4DEF9E44}"/>
              </a:ext>
            </a:extLst>
          </p:cNvPr>
          <p:cNvGrpSpPr/>
          <p:nvPr/>
        </p:nvGrpSpPr>
        <p:grpSpPr>
          <a:xfrm>
            <a:off x="9232860" y="4913271"/>
            <a:ext cx="1333581" cy="1333581"/>
            <a:chOff x="8084123" y="4913271"/>
            <a:chExt cx="1333581" cy="133358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54321441-1039-1AB2-7F43-2A0C0A942D5D}"/>
                </a:ext>
              </a:extLst>
            </p:cNvPr>
            <p:cNvSpPr/>
            <p:nvPr/>
          </p:nvSpPr>
          <p:spPr>
            <a:xfrm>
              <a:off x="8084123" y="4913271"/>
              <a:ext cx="1333581" cy="13335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5F9B4C-BD4A-AC0C-A1D4-E63DB6602DA4}"/>
                </a:ext>
              </a:extLst>
            </p:cNvPr>
            <p:cNvSpPr txBox="1"/>
            <p:nvPr/>
          </p:nvSpPr>
          <p:spPr>
            <a:xfrm>
              <a:off x="8314660" y="5249201"/>
              <a:ext cx="872508" cy="661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 anchor="t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3800"/>
                </a:lnSpc>
                <a:defRPr sz="3200">
                  <a:solidFill>
                    <a:schemeClr val="accent2"/>
                  </a:solidFill>
                  <a:latin typeface="TINKOFFSANS-MEDIUM" panose="02000506050000020004" pitchFamily="2" charset="0"/>
                </a:defRPr>
              </a:lvl1pPr>
            </a:lstStyle>
            <a:p>
              <a:pPr algn="ctr">
                <a:lnSpc>
                  <a:spcPct val="110000"/>
                </a:lnSpc>
              </a:pPr>
              <a:r>
                <a:rPr lang="ru-RU" sz="4000" dirty="0">
                  <a:latin typeface="T-Sans" pitchFamily="2" charset="0"/>
                  <a:ea typeface="T-Sans" pitchFamily="2" charset="0"/>
                </a:rPr>
                <a:t>V</a:t>
              </a:r>
              <a:r>
                <a:rPr lang="en-US" sz="4000" dirty="0">
                  <a:latin typeface="T-Sans" pitchFamily="2" charset="0"/>
                  <a:ea typeface="T-Sans" pitchFamily="2" charset="0"/>
                </a:rPr>
                <a:t>S</a:t>
              </a:r>
              <a:endParaRPr lang="ru-RU" sz="40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8BC4C6-ACCD-7C6D-56E3-C082886AE388}"/>
              </a:ext>
            </a:extLst>
          </p:cNvPr>
          <p:cNvSpPr txBox="1"/>
          <p:nvPr/>
        </p:nvSpPr>
        <p:spPr>
          <a:xfrm>
            <a:off x="1150938" y="1120463"/>
            <a:ext cx="7232627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Haskell </a:t>
            </a:r>
            <a:r>
              <a:rPr lang="en-US" sz="2400" b="0" dirty="0"/>
              <a:t>(</a:t>
            </a:r>
            <a:r>
              <a:rPr lang="ru-RU" sz="2400" b="0" dirty="0"/>
              <a:t>например)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6E644-698D-C262-B92A-7653B6E384AE}"/>
              </a:ext>
            </a:extLst>
          </p:cNvPr>
          <p:cNvSpPr txBox="1"/>
          <p:nvPr/>
        </p:nvSpPr>
        <p:spPr>
          <a:xfrm>
            <a:off x="10800024" y="9099731"/>
            <a:ext cx="8389275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ООП язык, в который добавлена имитация функционального подхода в ограниченном масштабе. Можно писать привычный код и использовать ФП по необходимости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2205-7F19-CD86-8CA8-B30443AC311C}"/>
              </a:ext>
            </a:extLst>
          </p:cNvPr>
          <p:cNvSpPr txBox="1"/>
          <p:nvPr/>
        </p:nvSpPr>
        <p:spPr>
          <a:xfrm>
            <a:off x="1150938" y="9099731"/>
            <a:ext cx="678051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Строго функциональный язык программирования, к которому надо (с болью) привыкать и перестраивать само мышление для эффективной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185E0-D299-9F48-D9AF-1150280A60D3}"/>
              </a:ext>
            </a:extLst>
          </p:cNvPr>
          <p:cNvSpPr txBox="1"/>
          <p:nvPr/>
        </p:nvSpPr>
        <p:spPr>
          <a:xfrm>
            <a:off x="11070774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ООП с имитацией функционального подхода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D58F9-9940-8725-46CD-B16174E55B87}"/>
              </a:ext>
            </a:extLst>
          </p:cNvPr>
          <p:cNvSpPr txBox="1"/>
          <p:nvPr/>
        </p:nvSpPr>
        <p:spPr>
          <a:xfrm>
            <a:off x="10800024" y="1120463"/>
            <a:ext cx="8016486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Java</a:t>
            </a:r>
            <a:endParaRPr lang="ru-RU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5841F-F530-2AAC-3D45-271DBC84BFAC}"/>
              </a:ext>
            </a:extLst>
          </p:cNvPr>
          <p:cNvSpPr txBox="1"/>
          <p:nvPr/>
        </p:nvSpPr>
        <p:spPr>
          <a:xfrm>
            <a:off x="1844619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Функциональный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7E542-C012-7BF8-0123-AEA4516C8407}"/>
              </a:ext>
            </a:extLst>
          </p:cNvPr>
          <p:cNvSpPr txBox="1"/>
          <p:nvPr/>
        </p:nvSpPr>
        <p:spPr>
          <a:xfrm>
            <a:off x="11070774" y="3180236"/>
            <a:ext cx="7232627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Синтаксический сахар. Быстрая анонимная реализация функционального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4707F-99D6-9C15-C8C1-F306FC9CFD3E}"/>
              </a:ext>
            </a:extLst>
          </p:cNvPr>
          <p:cNvSpPr txBox="1"/>
          <p:nvPr/>
        </p:nvSpPr>
        <p:spPr>
          <a:xfrm>
            <a:off x="1844618" y="3198328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Функция как объект первого порядка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3DE43-4F02-2C14-D803-E20CD84552A3}"/>
              </a:ext>
            </a:extLst>
          </p:cNvPr>
          <p:cNvSpPr txBox="1"/>
          <p:nvPr/>
        </p:nvSpPr>
        <p:spPr>
          <a:xfrm>
            <a:off x="1844617" y="4184522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- гарантия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87513-4E92-7C91-2167-DA661CBA85DA}"/>
              </a:ext>
            </a:extLst>
          </p:cNvPr>
          <p:cNvSpPr txBox="1"/>
          <p:nvPr/>
        </p:nvSpPr>
        <p:spPr>
          <a:xfrm>
            <a:off x="11070772" y="4322509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– самодисциплина и принцип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B7447-742A-8EA1-F97B-B8D885CEA388}"/>
              </a:ext>
            </a:extLst>
          </p:cNvPr>
          <p:cNvSpPr txBox="1"/>
          <p:nvPr/>
        </p:nvSpPr>
        <p:spPr>
          <a:xfrm>
            <a:off x="1844616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Автоматическая типизация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F4B45-7AC3-55E2-5564-708F443BD966}"/>
              </a:ext>
            </a:extLst>
          </p:cNvPr>
          <p:cNvSpPr txBox="1"/>
          <p:nvPr/>
        </p:nvSpPr>
        <p:spPr>
          <a:xfrm>
            <a:off x="11070772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Строгая типизация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6AB43A-3120-09EA-47F3-F38B1DA5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8" y="6149067"/>
            <a:ext cx="3602727" cy="26997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95DFB72-1F2A-7CF8-02EE-6BF7E840F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772" y="6149067"/>
            <a:ext cx="3257202" cy="270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065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Generics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19666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&lt;T&gt;, &lt;? super T&gt;, &lt;K extends String, ?&gt; </a:t>
            </a:r>
            <a:r>
              <a:rPr lang="en" sz="3600" dirty="0" err="1">
                <a:latin typeface="T-Sans" pitchFamily="2" charset="0"/>
                <a:ea typeface="T-Sans" pitchFamily="2" charset="0"/>
              </a:rPr>
              <a:t>BiConsumer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&lt;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X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, ? super Throwable&gt;</a:t>
            </a:r>
          </a:p>
          <a:p>
            <a:pPr>
              <a:lnSpc>
                <a:spcPct val="120000"/>
              </a:lnSpc>
            </a:pPr>
            <a:r>
              <a:rPr lang="ru-RU" sz="3600" dirty="0">
                <a:latin typeface="T-Sans" pitchFamily="2" charset="0"/>
                <a:ea typeface="T-Sans" pitchFamily="2" charset="0"/>
              </a:rPr>
              <a:t>Что это вообще такое?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63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11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2316585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dirty="0">
                <a:latin typeface="T-Sans" pitchFamily="2" charset="0"/>
                <a:ea typeface="T-Sans" pitchFamily="2" charset="0"/>
              </a:rPr>
              <a:t> это 3-й тип полиморфизма</a:t>
            </a:r>
            <a:br>
              <a:rPr lang="ru-RU" dirty="0">
                <a:latin typeface="T-Sans" pitchFamily="2" charset="0"/>
                <a:ea typeface="T-Sans" pitchFamily="2" charset="0"/>
              </a:rPr>
            </a:br>
            <a:r>
              <a:rPr lang="ru-RU" dirty="0">
                <a:latin typeface="T-Sans" pitchFamily="2" charset="0"/>
                <a:ea typeface="T-Sans" pitchFamily="2" charset="0"/>
              </a:rPr>
              <a:t>(вспоминаем семинар </a:t>
            </a:r>
            <a:r>
              <a:rPr lang="en-US" dirty="0">
                <a:latin typeface="T-Sans" pitchFamily="2" charset="0"/>
                <a:ea typeface="T-Sans" pitchFamily="2" charset="0"/>
              </a:rPr>
              <a:t>#1)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Generics </a:t>
            </a:r>
            <a:r>
              <a:rPr lang="ru-RU" b="0" dirty="0">
                <a:latin typeface="T-Sans" pitchFamily="2" charset="0"/>
                <a:ea typeface="T-Sans" pitchFamily="2" charset="0"/>
              </a:rPr>
              <a:t>в </a:t>
            </a:r>
            <a:r>
              <a:rPr lang="en-US" b="0" dirty="0">
                <a:latin typeface="T-Sans" pitchFamily="2" charset="0"/>
                <a:ea typeface="T-Sans" pitchFamily="2" charset="0"/>
              </a:rPr>
              <a:t>Java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3403421"/>
            <a:ext cx="6575860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пишем универсальный код для какого то типа данных, а затем подставляем его.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Например написали список для какого то Т, а затем уточнили, что это будет например </a:t>
            </a:r>
            <a:r>
              <a:rPr lang="en-US" dirty="0">
                <a:latin typeface="T-Sans" pitchFamily="2" charset="0"/>
                <a:ea typeface="T-Sans" pitchFamily="2" charset="0"/>
              </a:rPr>
              <a:t>String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626584"/>
            <a:ext cx="6575860" cy="4045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Плюсы 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Меньше кода! Нам не надо писать одно и то же под разные типы вручную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latin typeface="T-Sans" pitchFamily="2" charset="0"/>
                <a:ea typeface="T-Sans" pitchFamily="2" charset="0"/>
              </a:rPr>
              <a:t>Типобезопасность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на этапе компиляции</a:t>
            </a:r>
          </a:p>
          <a:p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Минусы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Стирание типов (</a:t>
            </a:r>
            <a:r>
              <a:rPr lang="en-US" dirty="0">
                <a:latin typeface="T-Sans" pitchFamily="2" charset="0"/>
                <a:ea typeface="T-Sans" pitchFamily="2" charset="0"/>
              </a:rPr>
              <a:t>type erasure) 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что это?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поддерживает массивы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T[])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работает с примитивами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</a:t>
            </a:r>
            <a:r>
              <a:rPr lang="en-US" dirty="0">
                <a:latin typeface="T-Sans" pitchFamily="2" charset="0"/>
                <a:ea typeface="T-Sans" pitchFamily="2" charset="0"/>
                <a:sym typeface="Wingdings" pitchFamily="2" charset="2"/>
              </a:rPr>
              <a:t>&gt;)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Нет </a:t>
            </a:r>
            <a:r>
              <a:rPr lang="en-US" dirty="0">
                <a:latin typeface="T-Sans" pitchFamily="2" charset="0"/>
                <a:ea typeface="T-Sans" pitchFamily="2" charset="0"/>
              </a:rPr>
              <a:t>static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public static T t)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E9D7E-9305-15CC-FF07-F949EBDEAEA2}"/>
              </a:ext>
            </a:extLst>
          </p:cNvPr>
          <p:cNvSpPr txBox="1"/>
          <p:nvPr/>
        </p:nvSpPr>
        <p:spPr>
          <a:xfrm>
            <a:off x="8071103" y="1836967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Будем использовать все возможности существующих классов, мы же не хотим писать отдельную реализацию листа конкретно под хранение инструментов?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BAC725-7607-8AEC-920B-3D737EAF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3314049"/>
            <a:ext cx="8965613" cy="69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57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6829641"/>
            <a:ext cx="5495728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Если мы не знаем какой тип будет, то можем использовать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ключевой символ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 Так мы показываем, что примем любой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А еще его можно сделать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bounded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Wildcard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75438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686937" y="7943537"/>
            <a:ext cx="55011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List&lt;Instrument&gt;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List&lt;Stock&gt;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инвариантны (не связаны никак)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extends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ковариантен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super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контравариантен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1509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Инвариантность</a:t>
            </a:r>
          </a:p>
          <a:p>
            <a:r>
              <a:rPr lang="ru-RU" dirty="0"/>
              <a:t>Ковариантность</a:t>
            </a:r>
          </a:p>
          <a:p>
            <a:r>
              <a:rPr lang="ru-RU" dirty="0" err="1"/>
              <a:t>Контравариантность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5264722" cy="1011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PECS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(Producer Extends, Consumer Super)</a:t>
            </a:r>
            <a:endParaRPr lang="ru-RU" sz="18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8" y="1731896"/>
            <a:ext cx="5463603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Часто мы хотим использовать не конкретный тип, а связанный с им по ООП иерархии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его наследников или родителей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Для этого можно использовать 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наследники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- родители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Bounded type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6" y="1731895"/>
            <a:ext cx="5423471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После компиляции никаких типов не останется. 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en-US" dirty="0">
                <a:latin typeface="T-Sans" pitchFamily="2" charset="0"/>
                <a:ea typeface="T-Sans" pitchFamily="2" charset="0"/>
              </a:rPr>
              <a:t>List&lt;String&gt;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List&lt;Integer&gt; </a:t>
            </a:r>
            <a:r>
              <a:rPr lang="ru-RU" dirty="0">
                <a:latin typeface="T-Sans" pitchFamily="2" charset="0"/>
                <a:ea typeface="T-Sans" pitchFamily="2" charset="0"/>
              </a:rPr>
              <a:t>станут просто </a:t>
            </a:r>
            <a:r>
              <a:rPr lang="en-US" dirty="0">
                <a:latin typeface="T-Sans" pitchFamily="2" charset="0"/>
                <a:ea typeface="T-Sans" pitchFamily="2" charset="0"/>
              </a:rPr>
              <a:t>List.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Все обращения к </a:t>
            </a:r>
            <a:r>
              <a:rPr lang="en-US" dirty="0">
                <a:latin typeface="T-Sans" pitchFamily="2" charset="0"/>
                <a:ea typeface="T-Sans" pitchFamily="2" charset="0"/>
              </a:rPr>
              <a:t>generic</a:t>
            </a:r>
            <a:r>
              <a:rPr lang="ru-RU" dirty="0">
                <a:latin typeface="T-Sans" pitchFamily="2" charset="0"/>
                <a:ea typeface="T-Sans" pitchFamily="2" charset="0"/>
              </a:rPr>
              <a:t> переменным получат явные касты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Стирание типов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2200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А теперь про особенности работы </a:t>
            </a:r>
            <a:r>
              <a:rPr lang="en-US" sz="4400" b="0" dirty="0">
                <a:solidFill>
                  <a:srgbClr val="0A0A0A"/>
                </a:solidFill>
                <a:latin typeface="T-Sans"/>
              </a:rPr>
              <a:t>Generics</a:t>
            </a:r>
            <a:r>
              <a:rPr lang="ru-RU" sz="4400" b="0" dirty="0">
                <a:solidFill>
                  <a:srgbClr val="0A0A0A"/>
                </a:solidFill>
                <a:latin typeface="T-Sans"/>
              </a:rPr>
              <a:t> и более сложные конструкции</a:t>
            </a:r>
            <a:endParaRPr lang="ru-RU" sz="44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FA615-A631-EB2E-7A30-FD75D3CB8760}"/>
              </a:ext>
            </a:extLst>
          </p:cNvPr>
          <p:cNvSpPr txBox="1"/>
          <p:nvPr/>
        </p:nvSpPr>
        <p:spPr>
          <a:xfrm>
            <a:off x="7324797" y="6765133"/>
            <a:ext cx="5264722" cy="38133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Правила работы 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Из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читать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записывать (или читать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Object)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9C746-0EAA-8FA3-F501-F6972077CE6A}"/>
              </a:ext>
            </a:extLst>
          </p:cNvPr>
          <p:cNvSpPr txBox="1"/>
          <p:nvPr/>
        </p:nvSpPr>
        <p:spPr>
          <a:xfrm>
            <a:off x="14845591" y="10016675"/>
            <a:ext cx="209608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(отдельный слайд </a:t>
            </a:r>
            <a:r>
              <a:rPr lang="en-US" sz="1800" dirty="0"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93599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75A1B5-C9AC-DAE0-8435-09DDF6774D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282"/>
          <a:stretch>
            <a:fillRect/>
          </a:stretch>
        </p:blipFill>
        <p:spPr>
          <a:xfrm>
            <a:off x="400050" y="1747838"/>
            <a:ext cx="9429750" cy="6370637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C9B0F6-1FFD-D388-F8C7-E26B6726B0ED}"/>
              </a:ext>
            </a:extLst>
          </p:cNvPr>
          <p:cNvSpPr txBox="1"/>
          <p:nvPr/>
        </p:nvSpPr>
        <p:spPr>
          <a:xfrm>
            <a:off x="611188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>
                <a:latin typeface="T-Sans Medium" pitchFamily="2" charset="0"/>
                <a:ea typeface="T-Sans" pitchFamily="2" charset="0"/>
              </a:rPr>
              <a:t>Ковариантность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9340048"/>
            <a:ext cx="8844539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читать, но не можем писать, так как не знаем будет ли записываемый нами тип наследником реального типа в коллекции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225C8-CDC7-B7CF-67CA-3F8FFBDA1EB1}"/>
              </a:ext>
            </a:extLst>
          </p:cNvPr>
          <p:cNvSpPr txBox="1"/>
          <p:nvPr/>
        </p:nvSpPr>
        <p:spPr>
          <a:xfrm>
            <a:off x="10503240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 err="1">
                <a:latin typeface="T-Sans Medium" pitchFamily="2" charset="0"/>
                <a:ea typeface="T-Sans" pitchFamily="2" charset="0"/>
              </a:rPr>
              <a:t>Контравариантность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F1FF0-AC20-FD11-379C-5F461DB16C58}"/>
              </a:ext>
            </a:extLst>
          </p:cNvPr>
          <p:cNvSpPr txBox="1"/>
          <p:nvPr/>
        </p:nvSpPr>
        <p:spPr>
          <a:xfrm>
            <a:off x="10503240" y="9340048"/>
            <a:ext cx="8929212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только записывать класс и его наследников, читать можем только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Object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довольно бесполезно получается)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943162-6C5D-C026-2CA4-1229761F8E15}"/>
              </a:ext>
            </a:extLst>
          </p:cNvPr>
          <p:cNvSpPr txBox="1"/>
          <p:nvPr/>
        </p:nvSpPr>
        <p:spPr>
          <a:xfrm>
            <a:off x="611187" y="627306"/>
            <a:ext cx="12629325" cy="6278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4800" b="0" dirty="0">
                <a:latin typeface="T-Sans" pitchFamily="2" charset="0"/>
                <a:ea typeface="T-Sans" pitchFamily="2" charset="0"/>
              </a:rPr>
              <a:t>Подробнее про контра/ко-вариантность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D21F2A8-A74E-F1BA-3F5F-6BFCDA67A5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" b="1326"/>
          <a:stretch>
            <a:fillRect/>
          </a:stretch>
        </p:blipFill>
        <p:spPr>
          <a:xfrm>
            <a:off x="9971088" y="1747838"/>
            <a:ext cx="9429750" cy="6370637"/>
          </a:xfrm>
        </p:spPr>
      </p:pic>
    </p:spTree>
    <p:extLst>
      <p:ext uri="{BB962C8B-B14F-4D97-AF65-F5344CB8AC3E}">
        <p14:creationId xmlns:p14="http://schemas.microsoft.com/office/powerpoint/2010/main" val="40872095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1301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Удобная обертка объектов, которая защитит нас от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n</a:t>
            </a:r>
            <a:r>
              <a:rPr lang="en-US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ull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076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7" y="2316585"/>
            <a:ext cx="5704039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Класс-обертка над любым другим объектом (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latin typeface="T-Sans" pitchFamily="2" charset="0"/>
                <a:ea typeface="T-Sans" pitchFamily="2" charset="0"/>
              </a:rPr>
              <a:t> Т)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Создан как подобие </a:t>
            </a:r>
            <a:r>
              <a:rPr lang="en-US" dirty="0">
                <a:latin typeface="T-Sans" pitchFamily="2" charset="0"/>
                <a:ea typeface="T-Sans" pitchFamily="2" charset="0"/>
              </a:rPr>
              <a:t>Maybe </a:t>
            </a:r>
            <a:r>
              <a:rPr lang="ru-RU" dirty="0">
                <a:latin typeface="T-Sans" pitchFamily="2" charset="0"/>
                <a:ea typeface="T-Sans" pitchFamily="2" charset="0"/>
              </a:rPr>
              <a:t>в </a:t>
            </a:r>
            <a:r>
              <a:rPr lang="en-US" dirty="0">
                <a:latin typeface="T-Sans" pitchFamily="2" charset="0"/>
                <a:ea typeface="T-Sans" pitchFamily="2" charset="0"/>
              </a:rPr>
              <a:t>Haskell/Scala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Optional&lt;T&gt;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4072899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оборачиваем экземпляр объекта (или </a:t>
            </a:r>
            <a:r>
              <a:rPr lang="en-US" dirty="0">
                <a:latin typeface="T-Sans" pitchFamily="2" charset="0"/>
                <a:ea typeface="T-Sans" pitchFamily="2" charset="0"/>
              </a:rPr>
              <a:t>null) </a:t>
            </a:r>
            <a:r>
              <a:rPr lang="ru-RU" dirty="0">
                <a:latin typeface="T-Sans" pitchFamily="2" charset="0"/>
                <a:ea typeface="T-Sans" pitchFamily="2" charset="0"/>
              </a:rPr>
              <a:t>и используем удобные методы для работы, не боясь получить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NullPointerException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885358"/>
            <a:ext cx="6575860" cy="4451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Основные методы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.of / 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ofNullable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обернуть объект в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.get() –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д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остать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объект без проверки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</a:t>
            </a:r>
            <a:r>
              <a:rPr lang="en-US" dirty="0">
                <a:latin typeface="T-Sans" pitchFamily="2" charset="0"/>
                <a:ea typeface="T-Sans" pitchFamily="2" charset="0"/>
              </a:rPr>
              <a:t> /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orElseGet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вернуть запасной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orElseThrow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кинуть ошибку, если его нет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map / filter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промежуточные операции (почти как стрим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апи</a:t>
            </a:r>
            <a:r>
              <a:rPr lang="ru-RU" dirty="0">
                <a:latin typeface="T-Sans" pitchFamily="2" charset="0"/>
                <a:ea typeface="T-Sans" pitchFamily="2" charset="0"/>
              </a:rPr>
              <a:t>, о котором поговорим позже)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isPresent</a:t>
            </a:r>
            <a:r>
              <a:rPr lang="ru-RU" dirty="0">
                <a:latin typeface="T-Sans" pitchFamily="2" charset="0"/>
                <a:ea typeface="T-Sans" pitchFamily="2" charset="0"/>
              </a:rPr>
              <a:t> – проверить что объект внутри есть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ifPresent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выполнить что то, если объект есть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BB6DCB-3E32-14AA-7DA9-87A06C35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1844641"/>
            <a:ext cx="7772400" cy="10728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807849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Добавим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find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метод в наш репозиторий, который возвращает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Optional&lt;Instrument&gt;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3FB3C-D5FD-77E6-985D-ADC1B073954B}"/>
              </a:ext>
            </a:extLst>
          </p:cNvPr>
          <p:cNvSpPr txBox="1"/>
          <p:nvPr/>
        </p:nvSpPr>
        <p:spPr>
          <a:xfrm>
            <a:off x="8071102" y="3123728"/>
            <a:ext cx="29905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>
                <a:latin typeface="T-Sans" pitchFamily="2" charset="0"/>
                <a:ea typeface="T-Sans" pitchFamily="2" charset="0"/>
              </a:rPr>
              <a:t>Как бы нам это использовать?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ED5CB7E-1165-6894-D4D9-DA1CCD6E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101" y="3529183"/>
            <a:ext cx="8078491" cy="666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3133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236676" y="2178917"/>
            <a:ext cx="8644611" cy="1123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Дополнительный вопрос – а в чем разница?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1D25D69-630B-0480-5DF3-BA80CEF65EE3}"/>
              </a:ext>
            </a:extLst>
          </p:cNvPr>
          <p:cNvSpPr/>
          <p:nvPr/>
        </p:nvSpPr>
        <p:spPr>
          <a:xfrm>
            <a:off x="1974748" y="5005137"/>
            <a:ext cx="9591610" cy="2852687"/>
          </a:xfrm>
          <a:prstGeom prst="roundRect">
            <a:avLst>
              <a:gd name="adj" fmla="val 2808"/>
            </a:avLst>
          </a:prstGeom>
          <a:solidFill>
            <a:schemeClr val="tx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BCCE30-E221-04F8-182E-C1B6ADA2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79" y="5176798"/>
            <a:ext cx="9254706" cy="2534027"/>
          </a:xfrm>
          <a:prstGeom prst="rect">
            <a:avLst/>
          </a:prstGeom>
        </p:spPr>
      </p:pic>
      <p:pic>
        <p:nvPicPr>
          <p:cNvPr id="1026" name="Picture 2" descr="Huh cat side on &quot; Sticker for Sale by rbuser4 | Redbubble">
            <a:extLst>
              <a:ext uri="{FF2B5EF4-FFF2-40B4-BE49-F238E27FC236}">
                <a16:creationId xmlns:a16="http://schemas.microsoft.com/office/drawing/2014/main" id="{955F3278-1E40-3B78-772B-7DECC30B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18" y="8029485"/>
            <a:ext cx="2348203" cy="31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E28C08-66DF-DE6D-4111-3B09BE4CEF5D}"/>
              </a:ext>
            </a:extLst>
          </p:cNvPr>
          <p:cNvSpPr txBox="1"/>
          <p:nvPr/>
        </p:nvSpPr>
        <p:spPr>
          <a:xfrm>
            <a:off x="9125992" y="8165269"/>
            <a:ext cx="707884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???</a:t>
            </a:r>
            <a:endParaRPr kumimoji="0" lang="ru-RU" sz="4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DE354-1ED1-8D15-D091-58ABB305E9C7}"/>
              </a:ext>
            </a:extLst>
          </p:cNvPr>
          <p:cNvSpPr txBox="1"/>
          <p:nvPr/>
        </p:nvSpPr>
        <p:spPr>
          <a:xfrm>
            <a:off x="3935752" y="8611543"/>
            <a:ext cx="388219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Просто более модный способ написать один и тот же код?</a:t>
            </a:r>
            <a:endParaRPr kumimoji="0" lang="ru-RU" sz="2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2947243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Advanced – </a:t>
            </a:r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а что под капотом?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Глянем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байткод</a:t>
            </a: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9171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8333457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nvokespecial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уже знает что и откуда вызывается. 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статическая, нет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бутстрапа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(метод с первого раза вызывается напрямую).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Расходы минимальны, работает быстро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6891FBC-B508-BCE6-9300-5A1B84013E2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9" r="7829"/>
          <a:stretch>
            <a:fillRect/>
          </a:stretch>
        </p:blipFill>
        <p:spPr>
          <a:xfrm>
            <a:off x="400050" y="1376363"/>
            <a:ext cx="9429750" cy="67421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99F528-54DF-9B36-47EE-67B7C5B52BF9}"/>
              </a:ext>
            </a:extLst>
          </p:cNvPr>
          <p:cNvSpPr txBox="1"/>
          <p:nvPr/>
        </p:nvSpPr>
        <p:spPr>
          <a:xfrm>
            <a:off x="3504467" y="591305"/>
            <a:ext cx="3221393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Обычный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3E9F-EBE9-0A5D-3B95-16A98E5CEC5F}"/>
              </a:ext>
            </a:extLst>
          </p:cNvPr>
          <p:cNvSpPr txBox="1"/>
          <p:nvPr/>
        </p:nvSpPr>
        <p:spPr>
          <a:xfrm>
            <a:off x="13689138" y="591304"/>
            <a:ext cx="1993492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400" dirty="0"/>
              <a:t>Лямбды</a:t>
            </a:r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0247AE7-FE7C-7EDF-DE7A-92140B8755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r="7929"/>
          <a:stretch>
            <a:fillRect/>
          </a:stretch>
        </p:blipFill>
        <p:spPr>
          <a:xfrm>
            <a:off x="9971088" y="1360488"/>
            <a:ext cx="9429750" cy="6773418"/>
          </a:xfr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6DC15EB-0D8E-36A6-1E66-7D5755E8F114}"/>
              </a:ext>
            </a:extLst>
          </p:cNvPr>
          <p:cNvSpPr txBox="1"/>
          <p:nvPr/>
        </p:nvSpPr>
        <p:spPr>
          <a:xfrm>
            <a:off x="9971088" y="8324021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</a:t>
            </a:r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dy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namic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не знает что и откуда вызывается, это будет ясно только в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рантайме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динамическая,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через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LambdaMetafactory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Первый вызов будет дольше, потом будет кеширование.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78296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1499555"/>
            <a:ext cx="5704039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Библиотека позволяющая работать с ошибками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</a:t>
            </a:r>
            <a:r>
              <a:rPr lang="ru-RU" dirty="0">
                <a:latin typeface="T-Sans" pitchFamily="2" charset="0"/>
                <a:ea typeface="T-Sans" pitchFamily="2" charset="0"/>
              </a:rPr>
              <a:t>в более «функциональном» стиле.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645475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ru-RU" b="0" dirty="0">
                <a:latin typeface="T-Sans" pitchFamily="2" charset="0"/>
                <a:ea typeface="T-Sans" pitchFamily="2" charset="0"/>
              </a:rPr>
              <a:t> </a:t>
            </a:r>
            <a:r>
              <a:rPr lang="en-US" b="0" dirty="0">
                <a:latin typeface="T-Sans" pitchFamily="2" charset="0"/>
                <a:ea typeface="T-Sans" pitchFamily="2" charset="0"/>
              </a:rPr>
              <a:t>try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25942" y="680915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27148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Старый ванильный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java </a:t>
            </a:r>
            <a:r>
              <a:rPr lang="ru-RU" sz="1800" dirty="0">
                <a:latin typeface="T-Sans" pitchFamily="2" charset="0"/>
                <a:ea typeface="T-Sans" pitchFamily="2" charset="0"/>
              </a:rPr>
              <a:t>код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384C42-D6AA-4427-9640-290ED4C72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51" y="1831040"/>
            <a:ext cx="7673281" cy="3099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3B461-7A9B-AE79-2E4E-FD510B89BBAF}"/>
              </a:ext>
            </a:extLst>
          </p:cNvPr>
          <p:cNvSpPr txBox="1"/>
          <p:nvPr/>
        </p:nvSpPr>
        <p:spPr>
          <a:xfrm>
            <a:off x="7990051" y="5136335"/>
            <a:ext cx="43931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Модный код на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в функциональном стиле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E409A1-3D04-E975-246F-A5BF6E4C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50" y="5613278"/>
            <a:ext cx="10539185" cy="13293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2E4F0E-4FAD-CC2F-D26D-C27196286963}"/>
              </a:ext>
            </a:extLst>
          </p:cNvPr>
          <p:cNvSpPr txBox="1"/>
          <p:nvPr/>
        </p:nvSpPr>
        <p:spPr>
          <a:xfrm>
            <a:off x="611188" y="2389648"/>
            <a:ext cx="5704039" cy="3639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Плюсы</a:t>
            </a:r>
          </a:p>
          <a:p>
            <a:r>
              <a:rPr lang="en-US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>
                <a:latin typeface="T-Sans" pitchFamily="2" charset="0"/>
                <a:ea typeface="T-Sans" pitchFamily="2" charset="0"/>
              </a:rPr>
              <a:t>Ошибка как значение, а не исключение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мощный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мощные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иммутабельные</a:t>
            </a:r>
            <a:r>
              <a:rPr lang="ru-RU" dirty="0">
                <a:latin typeface="T-Sans" pitchFamily="2" charset="0"/>
                <a:ea typeface="T-Sans" pitchFamily="2" charset="0"/>
              </a:rPr>
              <a:t> коллекции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Каррирование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en-US" dirty="0">
                <a:latin typeface="T-Sans" pitchFamily="2" charset="0"/>
                <a:ea typeface="T-Sans" pitchFamily="2" charset="0"/>
              </a:rPr>
              <a:t>pattern-matching, tuple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тд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Минусы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- Его нет в ванильной </a:t>
            </a:r>
            <a:r>
              <a:rPr lang="en-US" dirty="0">
                <a:latin typeface="T-Sans" pitchFamily="2" charset="0"/>
                <a:ea typeface="T-Sans" pitchFamily="2" charset="0"/>
              </a:rPr>
              <a:t>Java</a:t>
            </a:r>
            <a:r>
              <a:rPr lang="ru-RU" dirty="0">
                <a:latin typeface="T-Sans" pitchFamily="2" charset="0"/>
                <a:ea typeface="T-Sans" pitchFamily="2" charset="0"/>
              </a:rPr>
              <a:t>, надо подключать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834A9-25FA-ADFC-5175-0FCB6FB2D00D}"/>
              </a:ext>
            </a:extLst>
          </p:cNvPr>
          <p:cNvSpPr txBox="1"/>
          <p:nvPr/>
        </p:nvSpPr>
        <p:spPr>
          <a:xfrm>
            <a:off x="622608" y="7036777"/>
            <a:ext cx="6575860" cy="347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" sz="2200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делает программирование декларативным. </a:t>
            </a:r>
          </a:p>
          <a:p>
            <a:endParaRPr lang="ru-RU" sz="2200" dirty="0">
              <a:latin typeface="T-Sans" pitchFamily="2" charset="0"/>
              <a:ea typeface="T-Sans" pitchFamily="2" charset="0"/>
            </a:endParaRPr>
          </a:p>
          <a:p>
            <a:r>
              <a:rPr lang="ru-RU" sz="2200" dirty="0">
                <a:latin typeface="T-Sans" pitchFamily="2" charset="0"/>
                <a:ea typeface="T-Sans" pitchFamily="2" charset="0"/>
              </a:rPr>
              <a:t>Ошибки, отсутствие значения, побочные эффекты — всё это становится значениями и типами, видимыми в сигнатуре, а не скрытым поведением.</a:t>
            </a:r>
            <a:br>
              <a:rPr lang="ru-RU" sz="2200" dirty="0">
                <a:latin typeface="T-Sans" pitchFamily="2" charset="0"/>
                <a:ea typeface="T-Sans" pitchFamily="2" charset="0"/>
              </a:rPr>
            </a:br>
            <a:endParaRPr lang="ru-RU" sz="2200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>
                <a:latin typeface="T-Sans" pitchFamily="2" charset="0"/>
                <a:ea typeface="T-Sans" pitchFamily="2" charset="0"/>
              </a:rPr>
              <a:t>Java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 состояние + команды + исключения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</a:t>
            </a:r>
            <a:r>
              <a:rPr lang="ru-RU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данные + чистые функции + ошибка как значение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3355C-FFF8-6570-07E1-638C850E8EA5}"/>
              </a:ext>
            </a:extLst>
          </p:cNvPr>
          <p:cNvSpPr txBox="1"/>
          <p:nvPr/>
        </p:nvSpPr>
        <p:spPr>
          <a:xfrm>
            <a:off x="7949407" y="7641480"/>
            <a:ext cx="7810791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Наш код стал короче и моднее! </a:t>
            </a:r>
            <a:endParaRPr kumimoji="0" lang="en-US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Теперь он написан через лямбды и функциональный стиль и похож на </a:t>
            </a:r>
            <a:r>
              <a:rPr kumimoji="0" lang="ru-RU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пайплайн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1800" dirty="0">
              <a:latin typeface="T-Sans" pitchFamily="2" charset="0"/>
              <a:ea typeface="T-Sans" pitchFamily="2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И это лишь крошечная часть того, что можно реализовать через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4129235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66838" y="1366838"/>
            <a:ext cx="8750289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Итоги 3 семинара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671E9-E545-2FF1-F98E-9597F7D63B6D}"/>
              </a:ext>
            </a:extLst>
          </p:cNvPr>
          <p:cNvSpPr txBox="1"/>
          <p:nvPr/>
        </p:nvSpPr>
        <p:spPr>
          <a:xfrm>
            <a:off x="2399771" y="2505611"/>
            <a:ext cx="8149695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Разобрались что такое функциональное программирование и как оно выглядит в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джаве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Разобрались с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генериками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и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особенностями их работы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Посмотре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ли на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 (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лямбды +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)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Улучшили наше приложение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Переписали наши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strategy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на лямбды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До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бавили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Registry&lt;K, V&gt;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для наш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e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й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factory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Обезопасили наш репозиторий через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46538-793E-7BD2-36F4-F03106A25C5D}"/>
              </a:ext>
            </a:extLst>
          </p:cNvPr>
          <p:cNvSpPr txBox="1"/>
          <p:nvPr/>
        </p:nvSpPr>
        <p:spPr>
          <a:xfrm>
            <a:off x="2399771" y="7493800"/>
            <a:ext cx="8660860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А так же!</a:t>
            </a:r>
          </a:p>
          <a:p>
            <a:pPr marR="0" algn="l" defTabSz="457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/>
              <a:t>Посмотрели под капотом на отличие в </a:t>
            </a:r>
            <a:r>
              <a:rPr lang="ru-RU" sz="2400" dirty="0" err="1"/>
              <a:t>байткоде</a:t>
            </a:r>
            <a:r>
              <a:rPr lang="en-US" sz="2400" dirty="0"/>
              <a:t> </a:t>
            </a:r>
            <a:r>
              <a:rPr lang="ru-RU" sz="2400" dirty="0"/>
              <a:t>с лямбдами</a:t>
            </a:r>
            <a:endParaRPr lang="en-US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9CA67-02F8-05BF-3211-08F0759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89" y="2505611"/>
            <a:ext cx="720000" cy="7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9B33-6EA9-92CE-8356-C38C8C1C1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86" y="3577708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126706-17BD-D746-4022-3C1894AB4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4720684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14A320-0977-1701-F68D-5E31A7CA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8" y="74938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55377</TotalTime>
  <Words>1309</Words>
  <Application>Microsoft Macintosh PowerPoint</Application>
  <PresentationFormat>Произвольный</PresentationFormat>
  <Paragraphs>207</Paragraphs>
  <Slides>23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T-Sans</vt:lpstr>
      <vt:lpstr>Wingdings</vt:lpstr>
      <vt:lpstr>Tinkoff Sans</vt:lpstr>
      <vt:lpstr>Arial</vt:lpstr>
      <vt:lpstr>T-Sans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1197</cp:revision>
  <dcterms:modified xsi:type="dcterms:W3CDTF">2026-09-22T16:27:19Z</dcterms:modified>
</cp:coreProperties>
</file>